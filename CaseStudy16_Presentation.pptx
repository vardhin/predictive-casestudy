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E45660E-CA2C-43FC-AC53-6C9660201DA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E35DE4-CC48-4646-AAC0-3D9397F583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EB3C491-D7F1-46B8-B514-3BEE707D22D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E04548-A3A3-4463-A956-3E0268FF448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435907-2F6F-4035-AEE6-75D939A00C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DF881A5-EBD1-4CB1-994F-23244CCAEA3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3782F3E-3344-4725-AF30-EFAFDF55FCD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2A24AC2-4D80-4F31-9DB4-8622926B48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167344-0B1F-4372-8EE8-9BFA6AF2B8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E26906-B5D3-43EB-91E7-7B064ABEF2D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27236E-E47F-41F9-9F7C-BB0BA681257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2926080"/>
            <a:ext cx="12191400" cy="5436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914400" y="1371600"/>
            <a:ext cx="100580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Case Study 16: Retail Sales Time Series Analysis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329184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22BDS0114 – GSVARDHIN</a:t>
            </a:r>
            <a:br>
              <a:rPr sz="2200"/>
            </a:br>
            <a:r>
              <a:rPr lang="en-US" sz="2200" b="0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AirPassengers Dataset  •  Box &amp; Jenkins, 1976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457200" y="109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Problem Statement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3"/>
          <p:cNvSpPr/>
          <p:nvPr/>
        </p:nvSpPr>
        <p:spPr>
          <a:xfrm>
            <a:off x="548640" y="1097280"/>
            <a:ext cx="10972440" cy="39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 retail chain records monthly sales across branches.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Tasks: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1.  Perform trend and seasonality analysis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2.  Build forecasting models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3.  Discuss limitations of time series prediction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We use the AirPassengers dataset   144 monthly observations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of international airline passengers from Jan 1949 to Dec 1960.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dataset is built into the statsmodels library,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 no CSV downloads are needed.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457200" y="109800"/>
            <a:ext cx="10972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The Dataset   AirPassengers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548640" y="1097280"/>
            <a:ext cx="10972440" cy="35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Name            :  AirPassengers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Source           :  Box &amp; Jenkins (1976)   built into statsmodels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Observations  :  144 monthly data points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Period            :  January 1949 – December 1960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Unit               :  Thousands of passengers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is it famous?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 Clear upward trend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 Strong repeating seasonality (summer peaks)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 Increasing variance over time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 The go-to textbook example for time series analysis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57200" y="109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Key Concepts (in plain English)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548640" y="1097280"/>
            <a:ext cx="10972440" cy="521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Trend   The general direction the numbers go (up / down / flat).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Seasonality   A pattern that repeats at regular intervals.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Airline passengers spike every summer and dip every winter.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Stationarity   The data's average and spread don't change over time.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Most models need this, so we transform the data first.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ARIMA   Uses the relationship between a value and its own past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values to forecast.  "Last few months went up → next one likely up too."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Holt-Winters   Captures level, trend, and seasonality explicitly.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"Base is X, growing by Y/month, every July jumps by Z."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MAE / RMSE / MAPE   Measures of how wrong the predictions are.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Lower = better.  MAPE is a %, easiest to understand.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/>
          <p:cNvSpPr/>
          <p:nvPr/>
        </p:nvSpPr>
        <p:spPr>
          <a:xfrm>
            <a:off x="731520" y="3200400"/>
            <a:ext cx="2285640" cy="4536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731520" y="22860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Exploratory Data Analysis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3"/>
          <p:cNvSpPr/>
          <p:nvPr/>
        </p:nvSpPr>
        <p:spPr>
          <a:xfrm>
            <a:off x="731520" y="347472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Understanding the data before modelling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2"/>
          <p:cNvSpPr/>
          <p:nvPr/>
        </p:nvSpPr>
        <p:spPr>
          <a:xfrm>
            <a:off x="457200" y="109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Monthly Airline Passengers (1949 – 1960)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3" descr="01_eda_passenger_trend.png"/>
          <p:cNvPicPr/>
          <p:nvPr/>
        </p:nvPicPr>
        <p:blipFill>
          <a:blip r:embed="rId1"/>
          <a:stretch/>
        </p:blipFill>
        <p:spPr>
          <a:xfrm>
            <a:off x="838080" y="1005840"/>
            <a:ext cx="10515240" cy="398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TextBox 4"/>
          <p:cNvSpPr/>
          <p:nvPr/>
        </p:nvSpPr>
        <p:spPr>
          <a:xfrm>
            <a:off x="548640" y="6035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51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Clear upward trend  •  Seasonal peaks every summer  •  Variance increases over time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457200" y="109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Passenger Distribution by Month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" name="Picture 3" descr="02_eda_monthly_boxplot.png"/>
          <p:cNvPicPr/>
          <p:nvPr/>
        </p:nvPicPr>
        <p:blipFill>
          <a:blip r:embed="rId1"/>
          <a:stretch/>
        </p:blipFill>
        <p:spPr>
          <a:xfrm>
            <a:off x="838080" y="1005840"/>
            <a:ext cx="10515240" cy="432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" name="TextBox 4"/>
          <p:cNvSpPr/>
          <p:nvPr/>
        </p:nvSpPr>
        <p:spPr>
          <a:xfrm>
            <a:off x="548640" y="6035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51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July &amp; August have the highest medians  •  Nov–Feb are the lowest months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57200" y="109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Year-over-Year Comparison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" name="Picture 3" descr="03_eda_yoy_comparison.png"/>
          <p:cNvPicPr/>
          <p:nvPr/>
        </p:nvPicPr>
        <p:blipFill>
          <a:blip r:embed="rId1"/>
          <a:stretch/>
        </p:blipFill>
        <p:spPr>
          <a:xfrm>
            <a:off x="838080" y="1005840"/>
            <a:ext cx="10515240" cy="4325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" name="TextBox 4"/>
          <p:cNvSpPr/>
          <p:nvPr/>
        </p:nvSpPr>
        <p:spPr>
          <a:xfrm>
            <a:off x="548640" y="6035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51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Each year's line sits above the previous one → consistent yearly growth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"/>
          <p:cNvSpPr/>
          <p:nvPr/>
        </p:nvSpPr>
        <p:spPr>
          <a:xfrm>
            <a:off x="457200" y="109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Rolling Mean &amp; Standard Deviation (12-month window)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Picture 3" descr="04_eda_rolling_stats.png"/>
          <p:cNvPicPr/>
          <p:nvPr/>
        </p:nvPicPr>
        <p:blipFill>
          <a:blip r:embed="rId1"/>
          <a:stretch/>
        </p:blipFill>
        <p:spPr>
          <a:xfrm>
            <a:off x="838080" y="1005840"/>
            <a:ext cx="10515240" cy="39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TextBox 4"/>
          <p:cNvSpPr/>
          <p:nvPr/>
        </p:nvSpPr>
        <p:spPr>
          <a:xfrm>
            <a:off x="548640" y="6035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51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Rising rolling mean confirms upward trend  •  Rising std shows increasing variance → non-stationary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/>
          <p:cNvSpPr/>
          <p:nvPr/>
        </p:nvSpPr>
        <p:spPr>
          <a:xfrm>
            <a:off x="731520" y="3200400"/>
            <a:ext cx="2285640" cy="4536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"/>
          <p:cNvSpPr/>
          <p:nvPr/>
        </p:nvSpPr>
        <p:spPr>
          <a:xfrm>
            <a:off x="731520" y="22860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Trend &amp; Seasonality Analysis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3"/>
          <p:cNvSpPr/>
          <p:nvPr/>
        </p:nvSpPr>
        <p:spPr>
          <a:xfrm>
            <a:off x="731520" y="347472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Breaking the data into its building blocks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57200" y="109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Multiplicative Decomposition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7" name="Picture 3" descr="05_decomposition.png"/>
          <p:cNvPicPr/>
          <p:nvPr/>
        </p:nvPicPr>
        <p:blipFill>
          <a:blip r:embed="rId1"/>
          <a:stretch/>
        </p:blipFill>
        <p:spPr>
          <a:xfrm>
            <a:off x="3099240" y="1005840"/>
            <a:ext cx="5992920" cy="5028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TextBox 4"/>
          <p:cNvSpPr/>
          <p:nvPr/>
        </p:nvSpPr>
        <p:spPr>
          <a:xfrm>
            <a:off x="548640" y="6035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51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Observed = Trend × Seasonal × Residual  •  Multiplicative model used because seasonal amplitude grows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457200" y="109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Stationarity Test (Augmented Dickey-Fuller)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548640" y="1097280"/>
            <a:ext cx="10972440" cy="358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ADF test checks: does the data have a unit root (non-stationary)?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Results: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 Original series          →  p = 0.99    is Non-stationary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 After 1st differencing →  p = 0.05   is Borderline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•  After log + differencing →  p = 0.07   is Borderline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Conclusion: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The raw data is not stationary, it has a clear trend and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growing variance.  We need transformations (differencing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and/or log) before applying ARIMA.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457200" y="109800"/>
            <a:ext cx="10972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ACF &amp; PACF   Choosing ARIMA Parameters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Picture 3" descr="06_acf_pacf.png"/>
          <p:cNvPicPr/>
          <p:nvPr/>
        </p:nvPicPr>
        <p:blipFill>
          <a:blip r:embed="rId1"/>
          <a:stretch/>
        </p:blipFill>
        <p:spPr>
          <a:xfrm>
            <a:off x="838080" y="1005840"/>
            <a:ext cx="10515240" cy="374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Box 4"/>
          <p:cNvSpPr/>
          <p:nvPr/>
        </p:nvSpPr>
        <p:spPr>
          <a:xfrm>
            <a:off x="548640" y="6035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51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ACF shows slow decay → confirms non-stationarity  •  PACF helps select AR order (p)  •  ACF helps select MA order (q)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731520" y="3200400"/>
            <a:ext cx="2285640" cy="4536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731520" y="228600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Forecasting Models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731520" y="347472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ARIMA  vs  Holt-Winters Exponential Smoothing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457200" y="109800"/>
            <a:ext cx="10972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ARIMA(2,1,2)  Forecast vs Actual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" name="Picture 3" descr="07_arima_forecast.png"/>
          <p:cNvPicPr/>
          <p:nvPr/>
        </p:nvPicPr>
        <p:blipFill>
          <a:blip r:embed="rId1"/>
          <a:stretch/>
        </p:blipFill>
        <p:spPr>
          <a:xfrm>
            <a:off x="838080" y="1005840"/>
            <a:ext cx="10515240" cy="39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Box 4"/>
          <p:cNvSpPr/>
          <p:nvPr/>
        </p:nvSpPr>
        <p:spPr>
          <a:xfrm>
            <a:off x="548640" y="6035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51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ARIMA captures the general level but misses seasonal swings  •  MAPE ≈ 13.8%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"/>
          <p:cNvSpPr/>
          <p:nvPr/>
        </p:nvSpPr>
        <p:spPr>
          <a:xfrm>
            <a:off x="457200" y="109800"/>
            <a:ext cx="10972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Holt-Winters (Multiplicative) Forecast vs Actual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" name="Picture 3" descr="08_holtwinters_forecast.png"/>
          <p:cNvPicPr/>
          <p:nvPr/>
        </p:nvPicPr>
        <p:blipFill>
          <a:blip r:embed="rId1"/>
          <a:stretch/>
        </p:blipFill>
        <p:spPr>
          <a:xfrm>
            <a:off x="838080" y="1005840"/>
            <a:ext cx="10515240" cy="3987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Box 4"/>
          <p:cNvSpPr/>
          <p:nvPr/>
        </p:nvSpPr>
        <p:spPr>
          <a:xfrm>
            <a:off x="548640" y="6035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51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Holt-Winters nails both trend and seasonality  •  MAPE ≈ 2.8%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2"/>
          <p:cNvSpPr/>
          <p:nvPr/>
        </p:nvSpPr>
        <p:spPr>
          <a:xfrm>
            <a:off x="457200" y="109800"/>
            <a:ext cx="10972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Model Comparison  ARIMA vs Holt-Winters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3" descr="09_model_comparison.png"/>
          <p:cNvPicPr/>
          <p:nvPr/>
        </p:nvPicPr>
        <p:blipFill>
          <a:blip r:embed="rId1"/>
          <a:stretch/>
        </p:blipFill>
        <p:spPr>
          <a:xfrm>
            <a:off x="838080" y="1005840"/>
            <a:ext cx="10515240" cy="3493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Box 4"/>
          <p:cNvSpPr/>
          <p:nvPr/>
        </p:nvSpPr>
        <p:spPr>
          <a:xfrm>
            <a:off x="548640" y="6035040"/>
            <a:ext cx="10972440" cy="28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51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 Holt-Winters wins on all three metrics (MAE, RMSE, MAPE)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457200" y="109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Model Results Summary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548640" y="1097280"/>
            <a:ext cx="10972440" cy="39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                           MAE        RMSE       MAPE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──────────────────────────────────────────────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ARIMA(2,1,2)           69.10       90.69     13.78%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Holt-Winters (mul)   12.38       13.88       2.81%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Winner: Holt-Winters (Multiplicative)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Why Holt-Winters works better here: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•  It explicitly models trend + seasonality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•  Multiplicative form handles growing seasonal amplitude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•  ARIMA(2,1,2) without seasonal terms cannot capture the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      12-month repeating pattern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457200" y="109800"/>
            <a:ext cx="10972440" cy="48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Future Forecast  Next 24 Months (Holt-Winters)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Picture 3" descr="10_future_forecast.png"/>
          <p:cNvPicPr/>
          <p:nvPr/>
        </p:nvPicPr>
        <p:blipFill>
          <a:blip r:embed="rId1"/>
          <a:stretch/>
        </p:blipFill>
        <p:spPr>
          <a:xfrm>
            <a:off x="838080" y="1005840"/>
            <a:ext cx="10515240" cy="4459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" name="TextBox 4"/>
          <p:cNvSpPr/>
          <p:nvPr/>
        </p:nvSpPr>
        <p:spPr>
          <a:xfrm>
            <a:off x="548640" y="60350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519"/>
              </a:spcAft>
            </a:pPr>
            <a:r>
              <a:rPr lang="en-US" sz="13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Forecasted with ±10% confidence band  •  Seasonal pattern continues  •  Overall growth maintained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0"/>
            <a:ext cx="12191400" cy="82260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9" name="TextBox 2"/>
          <p:cNvSpPr/>
          <p:nvPr/>
        </p:nvSpPr>
        <p:spPr>
          <a:xfrm>
            <a:off x="457200" y="1098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1" u="none" strike="noStrike">
                <a:solidFill>
                  <a:srgbClr val="1b1b2f"/>
                </a:solidFill>
                <a:effectLst/>
                <a:uFillTx/>
                <a:latin typeface="Calibri"/>
              </a:rPr>
              <a:t>Limitations of Time Series Forecasting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3"/>
          <p:cNvSpPr/>
          <p:nvPr/>
        </p:nvSpPr>
        <p:spPr>
          <a:xfrm>
            <a:off x="548640" y="1097280"/>
            <a:ext cx="10972440" cy="48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 Stationarity assumption: ARIMA needs constant mean &amp; variance.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 Past wont always translate into Future, can't predict pandemics, crashes, or new competitors.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 No external info, models don't know about prices, weather, or marketing.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 Outliers distort results, one bad month skews the entire model.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5.  Short-term only, accuracy drops sharply beyond 3-6 months.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6.  Fixed seasonal shape, assumes seasonality never changes.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7.  Needs enough history, at least 2 full years for monthly data.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41"/>
              </a:spcAft>
            </a:pPr>
            <a:r>
              <a:rPr lang="en-US" sz="1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8.  No single best model, ARIMA, Holt-Winters, Prophet, LSTM all differ.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"/>
          <p:cNvSpPr/>
          <p:nvPr/>
        </p:nvSpPr>
        <p:spPr>
          <a:xfrm>
            <a:off x="0" y="3108960"/>
            <a:ext cx="12191400" cy="54360"/>
          </a:xfrm>
          <a:prstGeom prst="rect">
            <a:avLst/>
          </a:prstGeom>
          <a:solidFill>
            <a:srgbClr val="00bfa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914400" y="1828800"/>
            <a:ext cx="10058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Thank You!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914400" y="3474720"/>
            <a:ext cx="1005804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u="none" strike="noStrike">
                <a:solidFill>
                  <a:srgbClr val="00bfa5"/>
                </a:solidFill>
                <a:effectLst/>
                <a:uFillTx/>
                <a:latin typeface="Calibri"/>
              </a:rPr>
              <a:t>22BDS0114  GSVARDHIN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4"/>
          <p:cNvSpPr/>
          <p:nvPr/>
        </p:nvSpPr>
        <p:spPr>
          <a:xfrm>
            <a:off x="914400" y="4206240"/>
            <a:ext cx="100580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cccccc"/>
                </a:solidFill>
                <a:effectLst/>
                <a:uFillTx/>
                <a:latin typeface="Calibri"/>
              </a:rPr>
              <a:t>Case Study 16  •  Retail Sales Time Series Analysis  •  AirPassengers Dataset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LibreOffice/25.8.4.2$Linux_X86_64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2026-03-10T10:53:20Z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